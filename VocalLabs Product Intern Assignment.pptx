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B0082"/>
                </a:solidFill>
              </a:rPr>
              <a:t>Product Teardown — Vocallabs.ai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Prepared by Sourabh Yadav</a:t>
            </a:r>
          </a:p>
        </p:txBody>
      </p:sp>
      <p:pic>
        <p:nvPicPr>
          <p:cNvPr id="4" name="Picture 3" descr="Screenshot (5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051560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B0082"/>
                </a:solidFill>
              </a:rPr>
              <a:t>1. GTM &amp; ICP</a:t>
            </a:r>
          </a:p>
        </p:txBody>
      </p:sp>
      <p:pic>
        <p:nvPicPr>
          <p:cNvPr id="3" name="Picture 2" descr="Screenshot (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8229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4B0082"/>
                </a:solidFill>
              </a:rPr>
              <a:t>Observed
</a:t>
            </a:r>
            <a:r>
              <a:rPr sz="1100">
                <a:solidFill>
                  <a:srgbClr val="282828"/>
                </a:solidFill>
              </a:rPr>
              <a:t>The homepage heavily emphasizes technical capabilities such as low latency, REST APIs, SDKs, webhooks, and infrastructure scalability.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3232"/>
                </a:solidFill>
              </a:rPr>
              <a:t>Problem
</a:t>
            </a:r>
            <a:r>
              <a:rPr sz="1100">
                <a:solidFill>
                  <a:srgbClr val="282828"/>
                </a:solidFill>
              </a:rPr>
              <a:t>This positioning works well for developers and technical teams, but non-technical business users may struggle to immediately understand the actual business value.</a:t>
            </a:r>
          </a:p>
          <a:p>
            <a:r>
              <a:rPr b="1" sz="1500">
                <a:solidFill>
                  <a:srgbClr val="00783C"/>
                </a:solidFill>
              </a:rPr>
              <a:t>Ship Instead</a:t>
            </a:r>
          </a:p>
          <a:p>
            <a:pPr lvl="1">
              <a:spcAft>
                <a:spcPts val="400"/>
              </a:spcAft>
              <a:defRPr sz="1100"/>
            </a:pPr>
            <a:r>
              <a:t>• Reduce missed customer calls by 40%</a:t>
            </a:r>
          </a:p>
          <a:p>
            <a:pPr lvl="1">
              <a:spcAft>
                <a:spcPts val="400"/>
              </a:spcAft>
              <a:defRPr sz="1100"/>
            </a:pPr>
            <a:r>
              <a:t>• Automate appointment booking 24×7</a:t>
            </a:r>
          </a:p>
          <a:p>
            <a:pPr lvl="1">
              <a:spcAft>
                <a:spcPts val="400"/>
              </a:spcAft>
              <a:defRPr sz="1100"/>
            </a:pPr>
            <a:r>
              <a:t>• Increase lead qualification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B0082"/>
                </a:solidFill>
              </a:rPr>
              <a:t>2. UX &amp; Product Discovery</a:t>
            </a:r>
          </a:p>
        </p:txBody>
      </p:sp>
      <p:pic>
        <p:nvPicPr>
          <p:cNvPr id="3" name="Picture 2" descr="Screenshot (5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8229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4B0082"/>
                </a:solidFill>
              </a:rPr>
              <a:t>Observed
</a:t>
            </a:r>
            <a:r>
              <a:rPr sz="1100">
                <a:solidFill>
                  <a:srgbClr val="282828"/>
                </a:solidFill>
              </a:rPr>
              <a:t>The platform offers multiple AI solutions including FAQ bots, appointment bots, claims processing bots, lead qualification bots, and feedback bots.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3232"/>
                </a:solidFill>
              </a:rPr>
              <a:t>Problem
</a:t>
            </a:r>
            <a:r>
              <a:rPr sz="1100">
                <a:solidFill>
                  <a:srgbClr val="282828"/>
                </a:solidFill>
              </a:rPr>
              <a:t>New visitors may find it difficult to identify which solution is best suited for their business use case.</a:t>
            </a:r>
          </a:p>
          <a:p>
            <a:r>
              <a:rPr b="1" sz="1500">
                <a:solidFill>
                  <a:srgbClr val="00783C"/>
                </a:solidFill>
              </a:rPr>
              <a:t>Ship Instead</a:t>
            </a:r>
          </a:p>
          <a:p>
            <a:pPr lvl="1">
              <a:spcAft>
                <a:spcPts val="400"/>
              </a:spcAft>
              <a:defRPr sz="1100"/>
            </a:pPr>
            <a:r>
              <a:t>• Interactive onboarding flow</a:t>
            </a:r>
          </a:p>
          <a:p>
            <a:pPr lvl="1">
              <a:spcAft>
                <a:spcPts val="400"/>
              </a:spcAft>
              <a:defRPr sz="1100"/>
            </a:pPr>
            <a:r>
              <a:t>• Industry-specific workflow recommendations</a:t>
            </a:r>
          </a:p>
          <a:p>
            <a:pPr lvl="1">
              <a:spcAft>
                <a:spcPts val="400"/>
              </a:spcAft>
              <a:defRPr sz="1100"/>
            </a:pPr>
            <a:r>
              <a:t>• Tailored demos and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B0082"/>
                </a:solidFill>
              </a:rPr>
              <a:t>3. Features &amp; Reliability</a:t>
            </a:r>
          </a:p>
        </p:txBody>
      </p:sp>
      <p:pic>
        <p:nvPicPr>
          <p:cNvPr id="3" name="Picture 2" descr="Screenshot 2026-05-30 235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3591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8229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4B0082"/>
                </a:solidFill>
              </a:rPr>
              <a:t>Observed
</a:t>
            </a:r>
            <a:r>
              <a:rPr sz="1100">
                <a:solidFill>
                  <a:srgbClr val="282828"/>
                </a:solidFill>
              </a:rPr>
              <a:t>Vocallabs highlights advanced real-time voice capabilities such as barge-in handling, live context updates, and concurrent calling.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3232"/>
                </a:solidFill>
              </a:rPr>
              <a:t>Problem
</a:t>
            </a:r>
            <a:r>
              <a:rPr sz="1100">
                <a:solidFill>
                  <a:srgbClr val="282828"/>
                </a:solidFill>
              </a:rPr>
              <a:t>Enterprises may worry about hallucinations, compliance risks, and incorrect responses in sensitive workflows.</a:t>
            </a:r>
          </a:p>
          <a:p>
            <a:r>
              <a:rPr b="1" sz="1500">
                <a:solidFill>
                  <a:srgbClr val="00783C"/>
                </a:solidFill>
              </a:rPr>
              <a:t>Ship Instead</a:t>
            </a:r>
          </a:p>
          <a:p>
            <a:pPr lvl="1">
              <a:spcAft>
                <a:spcPts val="400"/>
              </a:spcAft>
              <a:defRPr sz="1100"/>
            </a:pPr>
            <a:r>
              <a:t>• Confidence-based human escalation</a:t>
            </a:r>
          </a:p>
          <a:p>
            <a:pPr lvl="1">
              <a:spcAft>
                <a:spcPts val="400"/>
              </a:spcAft>
              <a:defRPr sz="1100"/>
            </a:pPr>
            <a:r>
              <a:t>• Compliance logging</a:t>
            </a:r>
          </a:p>
          <a:p>
            <a:pPr lvl="1">
              <a:spcAft>
                <a:spcPts val="400"/>
              </a:spcAft>
              <a:defRPr sz="1100"/>
            </a:pPr>
            <a:r>
              <a:t>• Conversation audit trails</a:t>
            </a:r>
          </a:p>
          <a:p>
            <a:pPr lvl="1">
              <a:spcAft>
                <a:spcPts val="400"/>
              </a:spcAft>
              <a:defRPr sz="1100"/>
            </a:pPr>
            <a:r>
              <a:t>• Sensitive keyword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B0082"/>
                </a:solidFill>
              </a:rPr>
              <a:t>4. Competitor Positioning</a:t>
            </a:r>
          </a:p>
        </p:txBody>
      </p:sp>
      <p:pic>
        <p:nvPicPr>
          <p:cNvPr id="3" name="Picture 2" descr="Screenshot (5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82296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4B0082"/>
                </a:solidFill>
              </a:rPr>
              <a:t>Observed
</a:t>
            </a:r>
            <a:r>
              <a:rPr sz="1100">
                <a:solidFill>
                  <a:srgbClr val="282828"/>
                </a:solidFill>
              </a:rPr>
              <a:t>Competitors like Retell AI, Vapi, and Bland AI are also positioning themselves as AI voice infrastructure platforms.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3232"/>
                </a:solidFill>
              </a:rPr>
              <a:t>Problem
</a:t>
            </a:r>
            <a:r>
              <a:rPr sz="1100">
                <a:solidFill>
                  <a:srgbClr val="282828"/>
                </a:solidFill>
              </a:rPr>
              <a:t>Generic AI calling platform positioning may reduce differentiation over time.</a:t>
            </a:r>
          </a:p>
          <a:p>
            <a:r>
              <a:rPr b="1" sz="1500">
                <a:solidFill>
                  <a:srgbClr val="00783C"/>
                </a:solidFill>
              </a:rPr>
              <a:t>Ship Instead</a:t>
            </a:r>
          </a:p>
          <a:p>
            <a:pPr lvl="1">
              <a:spcAft>
                <a:spcPts val="400"/>
              </a:spcAft>
              <a:defRPr sz="1100"/>
            </a:pPr>
            <a:r>
              <a:t>• AI receptionist for clinics</a:t>
            </a:r>
          </a:p>
          <a:p>
            <a:pPr lvl="1">
              <a:spcAft>
                <a:spcPts val="400"/>
              </a:spcAft>
              <a:defRPr sz="1100"/>
            </a:pPr>
            <a:r>
              <a:t>• AI collections agent for fintech</a:t>
            </a:r>
          </a:p>
          <a:p>
            <a:pPr lvl="1">
              <a:spcAft>
                <a:spcPts val="400"/>
              </a:spcAft>
              <a:defRPr sz="1100"/>
            </a:pPr>
            <a:r>
              <a:t>• AI sales qualifier for real estate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B0082"/>
                </a:solidFill>
              </a:rPr>
              <a:t>5. Product-Led Growth &amp; Activation</a:t>
            </a:r>
          </a:p>
        </p:txBody>
      </p:sp>
      <p:pic>
        <p:nvPicPr>
          <p:cNvPr id="3" name="Picture 2" descr="Screenshot 2026-05-31 0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389120" cy="9475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8229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4B0082"/>
                </a:solidFill>
              </a:rPr>
              <a:t>Observed
</a:t>
            </a:r>
            <a:r>
              <a:rPr sz="1200">
                <a:solidFill>
                  <a:srgbClr val="282828"/>
                </a:solidFill>
              </a:rPr>
              <a:t>The primary CTA across the website is mostly focused on 'Book Demo'.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C83232"/>
                </a:solidFill>
              </a:rPr>
              <a:t>Problem
</a:t>
            </a:r>
            <a:r>
              <a:rPr sz="1200">
                <a:solidFill>
                  <a:srgbClr val="282828"/>
                </a:solidFill>
              </a:rPr>
              <a:t>Many visitors may not want to immediately schedule a sales call, creating onboarding friction.</a:t>
            </a:r>
          </a:p>
          <a:p>
            <a:r>
              <a:rPr b="1" sz="1500">
                <a:solidFill>
                  <a:srgbClr val="00783C"/>
                </a:solidFill>
              </a:rPr>
              <a:t>Ship Instead</a:t>
            </a:r>
          </a:p>
          <a:p>
            <a:pPr lvl="1">
              <a:spcAft>
                <a:spcPts val="400"/>
              </a:spcAft>
              <a:defRPr sz="1200"/>
            </a:pPr>
            <a:r>
              <a:t>• Live AI voice demos</a:t>
            </a:r>
          </a:p>
          <a:p>
            <a:pPr lvl="1">
              <a:spcAft>
                <a:spcPts val="400"/>
              </a:spcAft>
              <a:defRPr sz="1200"/>
            </a:pPr>
            <a:r>
              <a:t>• Interactive sandbox environments</a:t>
            </a:r>
          </a:p>
          <a:p>
            <a:pPr lvl="1">
              <a:spcAft>
                <a:spcPts val="400"/>
              </a:spcAft>
              <a:defRPr sz="1200"/>
            </a:pPr>
            <a:r>
              <a:t>• One-click sample calls</a:t>
            </a:r>
          </a:p>
          <a:p>
            <a:pPr lvl="1">
              <a:spcAft>
                <a:spcPts val="400"/>
              </a:spcAft>
              <a:defRPr sz="1200"/>
            </a:pPr>
            <a:r>
              <a:t>• ROI calculators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